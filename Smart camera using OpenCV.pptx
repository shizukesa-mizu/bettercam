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embeddedFontLst>
    <p:embeddedFont>
      <p:font typeface="DM Sans" pitchFamily="2" charset="0"/>
      <p:regular r:id="rId12"/>
      <p:bold r:id="rId13"/>
      <p:italic r:id="rId14"/>
      <p:boldItalic r:id="rId15"/>
    </p:embeddedFont>
    <p:embeddedFont>
      <p:font typeface="DM Sans Light" panose="020B0604020202020204" charset="0"/>
      <p:regular r:id="rId16"/>
      <p:bold r:id="rId17"/>
      <p:italic r:id="rId18"/>
      <p:boldItalic r:id="rId19"/>
    </p:embeddedFont>
    <p:embeddedFont>
      <p:font typeface="Merriweather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E1F38E-0CAC-24F1-9CD0-A0AC26AE935B}" v="553" dt="2025-12-16T16:54:30.385"/>
    <p1510:client id="{45C6A123-0D05-3C9E-60F6-530748A4E247}" v="311" dt="2025-12-16T16:55:46.164"/>
    <p1510:client id="{B244ED4B-9FCD-9801-D2BF-EDFB5F56C69A}" v="1" dt="2025-12-16T16:57:14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4925" y="4391769"/>
            <a:ext cx="19621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610816" y="1004423"/>
            <a:ext cx="723930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Motion-Activated</a:t>
            </a:r>
            <a:br>
              <a:rPr lang="en-US" sz="2000" b="0" i="0" u="none" strike="noStrike" cap="none">
                <a:latin typeface="Calibri"/>
                <a:ea typeface="Calibri"/>
                <a:cs typeface="Calibri"/>
              </a:rPr>
            </a:br>
            <a:r>
              <a:rPr lang="en-US" sz="6000" b="1" i="0" u="none" strike="noStrike" cap="non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 Camera System</a:t>
            </a:r>
            <a:endParaRPr lang="en-US" sz="6000"/>
          </a:p>
        </p:txBody>
      </p:sp>
      <p:sp>
        <p:nvSpPr>
          <p:cNvPr id="88" name="Google Shape;88;p13"/>
          <p:cNvSpPr txBox="1"/>
          <p:nvPr/>
        </p:nvSpPr>
        <p:spPr>
          <a:xfrm>
            <a:off x="3128962" y="3088927"/>
            <a:ext cx="59340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DM Sans Light"/>
                <a:ea typeface="DM Sans Light"/>
                <a:cs typeface="DM Sans Light"/>
                <a:sym typeface="DM Sans Light"/>
              </a:rPr>
              <a:t>Applications of ICT (CS-117)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94A3B8"/>
                </a:solidFill>
                <a:latin typeface="DM Sans Light"/>
                <a:ea typeface="DM Sans Light"/>
                <a:cs typeface="DM Sans Light"/>
                <a:sym typeface="DM Sans Light"/>
              </a:rPr>
              <a:t> Department of Aerospace Engineering, SMME, NUST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934385" y="4737470"/>
            <a:ext cx="457722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Group Members:</a:t>
            </a:r>
            <a:endParaRPr lang="en-US" sz="1800" b="1" i="0" u="none" strike="noStrike" cap="none">
              <a:solidFill>
                <a:srgbClr val="CBD5E1"/>
              </a:solidFill>
              <a:latin typeface="DM Sans"/>
              <a:ea typeface="DM Sans"/>
              <a:cs typeface="DM Sans"/>
            </a:endParaRPr>
          </a:p>
          <a:p>
            <a:pPr algn="ctr"/>
            <a:r>
              <a:rPr lang="en-US" sz="1800" b="1">
                <a:solidFill>
                  <a:srgbClr val="CBD5E1"/>
                </a:solidFill>
                <a:latin typeface="DM Sans"/>
              </a:rPr>
              <a:t>Danyal Hassan</a:t>
            </a:r>
          </a:p>
          <a:p>
            <a:pPr algn="ctr"/>
            <a:r>
              <a:rPr lang="en-US" sz="1800" b="1">
                <a:solidFill>
                  <a:srgbClr val="CBD5E1"/>
                </a:solidFill>
                <a:latin typeface="DM Sans"/>
              </a:rPr>
              <a:t>Eisa Hassan</a:t>
            </a:r>
          </a:p>
          <a:p>
            <a:pPr algn="ctr"/>
            <a:r>
              <a:rPr lang="en-US" sz="1800" b="1">
                <a:solidFill>
                  <a:srgbClr val="CBD5E1"/>
                </a:solidFill>
                <a:latin typeface="DM Sans"/>
              </a:rPr>
              <a:t>Abdul Moeed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600200"/>
            <a:ext cx="5429250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00200"/>
            <a:ext cx="542925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66775" y="2257425"/>
            <a:ext cx="488061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Problem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866775" y="2695575"/>
            <a:ext cx="4648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2905125"/>
            <a:ext cx="4648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Continuous video recording generates massive amounts of redundant data. This leads to inefficient storage usage, increased power consumption, and significant difficulty in reviewing footage to find critical events.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77025" y="2257425"/>
            <a:ext cx="488061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Our Solution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6677025" y="2695575"/>
            <a:ext cx="46482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677025" y="2905125"/>
            <a:ext cx="4648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 intelligent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Motion-Activated Recording System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using Python and OpenCV. It continuously monitors a live feed but only records when meaningful activity is detected, preserving context through smart buffering.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22955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22955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476250" y="476250"/>
            <a:ext cx="11715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b="0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Challenge &amp; The Solution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476250" y="119062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558" y="3524494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2200" y="4306032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88150" y="3524494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26870" y="430603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476250" y="4162425"/>
            <a:ext cx="11239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-81817" y="4876800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Initialization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885" y="5267325"/>
            <a:ext cx="1905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Camera setup &amp; Reference frame capture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3317825" y="2646164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Idle &amp; Buffer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3365450" y="3036689"/>
            <a:ext cx="1905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Continuous monitoring with rolling deque buffer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873775" y="4876800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Detection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921400" y="5267325"/>
            <a:ext cx="1905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MOG2 Algorithm identifies motion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474834" y="2646164"/>
            <a:ext cx="171464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Recording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474834" y="3036689"/>
            <a:ext cx="1714648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Pre-event + Active Event + Post-event saved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76250" y="476250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476250" y="119062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8597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476250" y="3055003"/>
            <a:ext cx="5381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 implemented the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MOG2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 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algorithm for robust detection.</a:t>
            </a:r>
            <a:endParaRPr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8597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666750" y="3509962"/>
            <a:ext cx="5191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Why MOG2?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It is significantly faster and more memory-efficient than KNN (K-Nearest Neighbors).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66750" y="4262437"/>
            <a:ext cx="51911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Shadow Detection: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Unlike simple subtraction, MOG2 can </a:t>
            </a:r>
            <a:r>
              <a:rPr lang="en-US" sz="15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detect shadows,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preventing false positives from lighting changes.</a:t>
            </a:r>
            <a:endParaRPr lang="en-US"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666750" y="5319712"/>
            <a:ext cx="5191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Alternatives: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GMG (too heavy), CNT (less robust).</a:t>
            </a:r>
            <a:endParaRPr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35623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431482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37210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476250" y="476250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Core Logic: Background Subtraction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476250" y="119062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555676"/>
            <a:ext cx="3555950" cy="2870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2555676"/>
            <a:ext cx="3555950" cy="2870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9650" y="2555676"/>
            <a:ext cx="3555950" cy="28705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687388" y="3593901"/>
            <a:ext cx="313367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Library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62000" y="4013001"/>
            <a:ext cx="2984450" cy="740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We utilized Python's collections library to implement a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deque</a:t>
            </a: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(Double-Ended Queue) for our frame buffer.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529089" y="3593901"/>
            <a:ext cx="313367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Efficiency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603700" y="4013001"/>
            <a:ext cx="29844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Deque provides time complexity for appends and pops from both ends, making it far superior to standard lists ( ).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370789" y="3593901"/>
            <a:ext cx="313367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Context Preservation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445400" y="4013001"/>
            <a:ext cx="29844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This allows us to maintain a "rolling window" of the last few seconds of video, ensuring we capture the moment </a:t>
            </a:r>
            <a:r>
              <a:rPr lang="en-US" sz="1200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before</a:t>
            </a: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motion starts.</a:t>
            </a:r>
            <a:endParaRPr/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39838" y="2936676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29163" y="2936676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23239" y="2936676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476250" y="476250"/>
            <a:ext cx="11715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b="0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Optimized Buffering with Deque</a:t>
            </a:r>
            <a:endParaRPr lang="en-US" sz="3600" b="1" i="1">
              <a:solidFill>
                <a:srgbClr val="0F172A"/>
              </a:solidFill>
              <a:latin typeface="Merriweather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476250" y="119062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71500" y="1399282"/>
            <a:ext cx="5200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b="1" i="0" u="none" strike="noStrike" cap="non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</a:t>
            </a:r>
            <a:endParaRPr lang="en-US" sz="3600" b="1">
              <a:solidFill>
                <a:srgbClr val="F8FAFC"/>
              </a:solidFill>
              <a:latin typeface="Merriweather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244703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system is built on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Python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using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OpenCV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library for image processing.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3437632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>
              <a:lnSpc>
                <a:spcPct val="133333"/>
              </a:lnSpc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Key Components:</a:t>
            </a:r>
            <a:br>
              <a:rPr lang="en-US" sz="1800" b="0" i="0" u="none" strike="noStrike" cap="none" dirty="0">
                <a:latin typeface="Calibri"/>
                <a:ea typeface="Calibri"/>
                <a:cs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- Frame subtraction loop</a:t>
            </a:r>
            <a:br>
              <a:rPr lang="en-US" sz="1800" b="0" i="0" u="none" strike="noStrike" cap="none" dirty="0">
                <a:latin typeface="Calibri"/>
                <a:ea typeface="Calibri"/>
                <a:cs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- Contour detection (filtering small movements)</a:t>
            </a:r>
            <a:br>
              <a:rPr lang="en-US" sz="1800" b="0" i="0" u="none" strike="noStrike" cap="none" dirty="0">
                <a:latin typeface="Calibri"/>
                <a:ea typeface="Calibri"/>
                <a:cs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Uses Deque data structure for buffer</a:t>
            </a:r>
            <a:endParaRPr lang="en-US" sz="1500" dirty="0">
              <a:solidFill>
                <a:srgbClr val="CBD5E1"/>
              </a:solidFill>
              <a:latin typeface="DM Sans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503783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code handles lighting anomalies via threshold tuning and manages storage automatically.</a:t>
            </a:r>
            <a:endParaRPr/>
          </a:p>
        </p:txBody>
      </p:sp>
      <p:pic>
        <p:nvPicPr>
          <p:cNvPr id="175" name="Google Shape;175;p19" descr="A close-up of a computer&#10;&#10;AI-generated content may be incorrect.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6093387" y="0"/>
            <a:ext cx="610122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94782"/>
            <a:ext cx="2381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387351" y="4657725"/>
            <a:ext cx="373374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Reduced Storage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476250" y="5114925"/>
            <a:ext cx="3555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Saves only meaningful events, drastically reducing hard drive usage.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4229051" y="4657725"/>
            <a:ext cx="373374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Energy Efficient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4317950" y="5114925"/>
            <a:ext cx="3555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Less data writing means lower power consumption for storage servers.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070752" y="4657725"/>
            <a:ext cx="373374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Cost Effective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159650" y="5114925"/>
            <a:ext cx="3555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Built on open-source software, making surveillance accessible.</a:t>
            </a:r>
            <a:endParaRPr/>
          </a:p>
        </p:txBody>
      </p:sp>
      <p:pic>
        <p:nvPicPr>
          <p:cNvPr id="187" name="Google Shape;187;p20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477447" y="2066925"/>
            <a:ext cx="3367942" cy="23812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2066925"/>
            <a:ext cx="3555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9650" y="2066925"/>
            <a:ext cx="35559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476250" y="476250"/>
            <a:ext cx="117157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Sustainability &amp; Impact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476250" y="119062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/>
        </p:nvSpPr>
        <p:spPr>
          <a:xfrm>
            <a:off x="2095500" y="2015728"/>
            <a:ext cx="800100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5619750" y="3055739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2286000" y="3379589"/>
            <a:ext cx="7620000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This project successfully demonstrates how ICT tools can solve real-world engineering problems. By integrating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MOG2 algorithms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with </a:t>
            </a:r>
            <a:r>
              <a:rPr lang="en-US" sz="18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deque-based buffering</a:t>
            </a: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, we achieved a surveillance system that is efficient, reliable, and sustainable.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/>
        </p:nvSpPr>
        <p:spPr>
          <a:xfrm>
            <a:off x="3940730" y="2921198"/>
            <a:ext cx="4310538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4043362" y="4073723"/>
            <a:ext cx="41052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</Words>
  <Application>Microsoft Office PowerPoint</Application>
  <PresentationFormat>Widescreen</PresentationFormat>
  <Paragraphs>57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Eisa baig</cp:lastModifiedBy>
  <cp:revision>195</cp:revision>
  <dcterms:modified xsi:type="dcterms:W3CDTF">2025-12-16T16:59:31Z</dcterms:modified>
</cp:coreProperties>
</file>